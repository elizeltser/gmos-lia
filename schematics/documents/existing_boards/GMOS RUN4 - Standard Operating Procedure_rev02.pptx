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61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007501-2EBC-47B8-B196-52A650775DEF}" v="1" dt="2021-05-31T10:41:14.3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mitry Shlenkevitch" userId="97a7c884-9f01-449d-ab8b-8fdace26bb68" providerId="ADAL" clId="{CE007501-2EBC-47B8-B196-52A650775DEF}"/>
    <pc:docChg chg="custSel modSld">
      <pc:chgData name="Dmitry Shlenkevitch" userId="97a7c884-9f01-449d-ab8b-8fdace26bb68" providerId="ADAL" clId="{CE007501-2EBC-47B8-B196-52A650775DEF}" dt="2021-05-31T10:45:05.697" v="187" actId="1076"/>
      <pc:docMkLst>
        <pc:docMk/>
      </pc:docMkLst>
      <pc:sldChg chg="addSp delSp modSp mod">
        <pc:chgData name="Dmitry Shlenkevitch" userId="97a7c884-9f01-449d-ab8b-8fdace26bb68" providerId="ADAL" clId="{CE007501-2EBC-47B8-B196-52A650775DEF}" dt="2021-05-31T10:41:14.327" v="15" actId="164"/>
        <pc:sldMkLst>
          <pc:docMk/>
          <pc:sldMk cId="2622437177" sldId="260"/>
        </pc:sldMkLst>
        <pc:spChg chg="mod">
          <ac:chgData name="Dmitry Shlenkevitch" userId="97a7c884-9f01-449d-ab8b-8fdace26bb68" providerId="ADAL" clId="{CE007501-2EBC-47B8-B196-52A650775DEF}" dt="2021-05-31T10:40:53.795" v="9" actId="14100"/>
          <ac:spMkLst>
            <pc:docMk/>
            <pc:sldMk cId="2622437177" sldId="260"/>
            <ac:spMk id="38" creationId="{C3EDD17F-79E2-4984-BA1C-95EC9605241B}"/>
          </ac:spMkLst>
        </pc:spChg>
        <pc:grpChg chg="add mod">
          <ac:chgData name="Dmitry Shlenkevitch" userId="97a7c884-9f01-449d-ab8b-8fdace26bb68" providerId="ADAL" clId="{CE007501-2EBC-47B8-B196-52A650775DEF}" dt="2021-05-31T10:41:14.327" v="15" actId="164"/>
          <ac:grpSpMkLst>
            <pc:docMk/>
            <pc:sldMk cId="2622437177" sldId="260"/>
            <ac:grpSpMk id="8" creationId="{9CDCA9F9-8D65-4154-8E46-9CED1232BD06}"/>
          </ac:grpSpMkLst>
        </pc:grpChg>
        <pc:grpChg chg="mod">
          <ac:chgData name="Dmitry Shlenkevitch" userId="97a7c884-9f01-449d-ab8b-8fdace26bb68" providerId="ADAL" clId="{CE007501-2EBC-47B8-B196-52A650775DEF}" dt="2021-05-31T10:41:14.327" v="15" actId="164"/>
          <ac:grpSpMkLst>
            <pc:docMk/>
            <pc:sldMk cId="2622437177" sldId="260"/>
            <ac:grpSpMk id="63" creationId="{3E439453-08EC-4C98-BE9D-6AF26BD590EA}"/>
          </ac:grpSpMkLst>
        </pc:grpChg>
        <pc:picChg chg="del">
          <ac:chgData name="Dmitry Shlenkevitch" userId="97a7c884-9f01-449d-ab8b-8fdace26bb68" providerId="ADAL" clId="{CE007501-2EBC-47B8-B196-52A650775DEF}" dt="2021-05-31T10:40:09.088" v="3" actId="478"/>
          <ac:picMkLst>
            <pc:docMk/>
            <pc:sldMk cId="2622437177" sldId="260"/>
            <ac:picMk id="4" creationId="{CD66778C-4A37-4468-9DC3-B9679ED5E9F6}"/>
          </ac:picMkLst>
        </pc:picChg>
        <pc:picChg chg="add mod ord">
          <ac:chgData name="Dmitry Shlenkevitch" userId="97a7c884-9f01-449d-ab8b-8fdace26bb68" providerId="ADAL" clId="{CE007501-2EBC-47B8-B196-52A650775DEF}" dt="2021-05-31T10:41:14.327" v="15" actId="164"/>
          <ac:picMkLst>
            <pc:docMk/>
            <pc:sldMk cId="2622437177" sldId="260"/>
            <ac:picMk id="6" creationId="{1F7FADE4-4548-41F4-9D98-6219BE42B213}"/>
          </ac:picMkLst>
        </pc:picChg>
        <pc:cxnChg chg="mod">
          <ac:chgData name="Dmitry Shlenkevitch" userId="97a7c884-9f01-449d-ab8b-8fdace26bb68" providerId="ADAL" clId="{CE007501-2EBC-47B8-B196-52A650775DEF}" dt="2021-05-31T10:40:53.795" v="9" actId="14100"/>
          <ac:cxnSpMkLst>
            <pc:docMk/>
            <pc:sldMk cId="2622437177" sldId="260"/>
            <ac:cxnSpMk id="51" creationId="{07B10C68-AFC3-412D-A3BD-709AE9DC3ED1}"/>
          </ac:cxnSpMkLst>
        </pc:cxnChg>
      </pc:sldChg>
      <pc:sldChg chg="addSp delSp modSp mod">
        <pc:chgData name="Dmitry Shlenkevitch" userId="97a7c884-9f01-449d-ab8b-8fdace26bb68" providerId="ADAL" clId="{CE007501-2EBC-47B8-B196-52A650775DEF}" dt="2021-05-31T10:43:26.428" v="166" actId="20577"/>
        <pc:sldMkLst>
          <pc:docMk/>
          <pc:sldMk cId="394428917" sldId="264"/>
        </pc:sldMkLst>
        <pc:spChg chg="mod">
          <ac:chgData name="Dmitry Shlenkevitch" userId="97a7c884-9f01-449d-ab8b-8fdace26bb68" providerId="ADAL" clId="{CE007501-2EBC-47B8-B196-52A650775DEF}" dt="2021-05-31T10:41:54.487" v="30" actId="14100"/>
          <ac:spMkLst>
            <pc:docMk/>
            <pc:sldMk cId="394428917" sldId="264"/>
            <ac:spMk id="38" creationId="{C3EDD17F-79E2-4984-BA1C-95EC9605241B}"/>
          </ac:spMkLst>
        </pc:spChg>
        <pc:spChg chg="mod">
          <ac:chgData name="Dmitry Shlenkevitch" userId="97a7c884-9f01-449d-ab8b-8fdace26bb68" providerId="ADAL" clId="{CE007501-2EBC-47B8-B196-52A650775DEF}" dt="2021-05-31T10:43:26.428" v="166" actId="20577"/>
          <ac:spMkLst>
            <pc:docMk/>
            <pc:sldMk cId="394428917" sldId="264"/>
            <ac:spMk id="50" creationId="{2826EEA9-B523-4987-8A5E-76E05BB94F49}"/>
          </ac:spMkLst>
        </pc:spChg>
        <pc:picChg chg="del">
          <ac:chgData name="Dmitry Shlenkevitch" userId="97a7c884-9f01-449d-ab8b-8fdace26bb68" providerId="ADAL" clId="{CE007501-2EBC-47B8-B196-52A650775DEF}" dt="2021-05-31T10:41:28.402" v="16" actId="478"/>
          <ac:picMkLst>
            <pc:docMk/>
            <pc:sldMk cId="394428917" sldId="264"/>
            <ac:picMk id="4" creationId="{CD66778C-4A37-4468-9DC3-B9679ED5E9F6}"/>
          </ac:picMkLst>
        </pc:picChg>
        <pc:picChg chg="add mod ord">
          <ac:chgData name="Dmitry Shlenkevitch" userId="97a7c884-9f01-449d-ab8b-8fdace26bb68" providerId="ADAL" clId="{CE007501-2EBC-47B8-B196-52A650775DEF}" dt="2021-05-31T10:41:50.055" v="29" actId="1038"/>
          <ac:picMkLst>
            <pc:docMk/>
            <pc:sldMk cId="394428917" sldId="264"/>
            <ac:picMk id="6" creationId="{9C9D763E-06B2-478D-A7BD-243C0D846704}"/>
          </ac:picMkLst>
        </pc:picChg>
        <pc:cxnChg chg="mod">
          <ac:chgData name="Dmitry Shlenkevitch" userId="97a7c884-9f01-449d-ab8b-8fdace26bb68" providerId="ADAL" clId="{CE007501-2EBC-47B8-B196-52A650775DEF}" dt="2021-05-31T10:43:01.182" v="134" actId="20577"/>
          <ac:cxnSpMkLst>
            <pc:docMk/>
            <pc:sldMk cId="394428917" sldId="264"/>
            <ac:cxnSpMk id="15" creationId="{D10B295B-4F78-4E23-816A-DBF95BD43522}"/>
          </ac:cxnSpMkLst>
        </pc:cxnChg>
      </pc:sldChg>
      <pc:sldChg chg="addSp delSp modSp mod">
        <pc:chgData name="Dmitry Shlenkevitch" userId="97a7c884-9f01-449d-ab8b-8fdace26bb68" providerId="ADAL" clId="{CE007501-2EBC-47B8-B196-52A650775DEF}" dt="2021-05-31T10:44:25.983" v="178" actId="732"/>
        <pc:sldMkLst>
          <pc:docMk/>
          <pc:sldMk cId="1316452372" sldId="265"/>
        </pc:sldMkLst>
        <pc:picChg chg="del">
          <ac:chgData name="Dmitry Shlenkevitch" userId="97a7c884-9f01-449d-ab8b-8fdace26bb68" providerId="ADAL" clId="{CE007501-2EBC-47B8-B196-52A650775DEF}" dt="2021-05-31T10:43:49.173" v="167" actId="478"/>
          <ac:picMkLst>
            <pc:docMk/>
            <pc:sldMk cId="1316452372" sldId="265"/>
            <ac:picMk id="4" creationId="{CD66778C-4A37-4468-9DC3-B9679ED5E9F6}"/>
          </ac:picMkLst>
        </pc:picChg>
        <pc:picChg chg="add mod ord modCrop">
          <ac:chgData name="Dmitry Shlenkevitch" userId="97a7c884-9f01-449d-ab8b-8fdace26bb68" providerId="ADAL" clId="{CE007501-2EBC-47B8-B196-52A650775DEF}" dt="2021-05-31T10:44:25.983" v="178" actId="732"/>
          <ac:picMkLst>
            <pc:docMk/>
            <pc:sldMk cId="1316452372" sldId="265"/>
            <ac:picMk id="6" creationId="{D75C0030-86EF-498A-97D0-0F0BF74E91B3}"/>
          </ac:picMkLst>
        </pc:picChg>
      </pc:sldChg>
      <pc:sldChg chg="addSp delSp modSp mod">
        <pc:chgData name="Dmitry Shlenkevitch" userId="97a7c884-9f01-449d-ab8b-8fdace26bb68" providerId="ADAL" clId="{CE007501-2EBC-47B8-B196-52A650775DEF}" dt="2021-05-31T10:45:05.697" v="187" actId="1076"/>
        <pc:sldMkLst>
          <pc:docMk/>
          <pc:sldMk cId="3066712741" sldId="266"/>
        </pc:sldMkLst>
        <pc:picChg chg="del">
          <ac:chgData name="Dmitry Shlenkevitch" userId="97a7c884-9f01-449d-ab8b-8fdace26bb68" providerId="ADAL" clId="{CE007501-2EBC-47B8-B196-52A650775DEF}" dt="2021-05-31T10:44:36.679" v="179" actId="478"/>
          <ac:picMkLst>
            <pc:docMk/>
            <pc:sldMk cId="3066712741" sldId="266"/>
            <ac:picMk id="4" creationId="{CD66778C-4A37-4468-9DC3-B9679ED5E9F6}"/>
          </ac:picMkLst>
        </pc:picChg>
        <pc:picChg chg="add mod ord modCrop">
          <ac:chgData name="Dmitry Shlenkevitch" userId="97a7c884-9f01-449d-ab8b-8fdace26bb68" providerId="ADAL" clId="{CE007501-2EBC-47B8-B196-52A650775DEF}" dt="2021-05-31T10:45:05.697" v="187" actId="1076"/>
          <ac:picMkLst>
            <pc:docMk/>
            <pc:sldMk cId="3066712741" sldId="266"/>
            <ac:picMk id="6" creationId="{585923F7-A7AC-44DF-A0DA-11EAC375AD1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56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584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907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076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4397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325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922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7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857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086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5/31/2021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31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5/31/2021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90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01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8">
            <a:extLst>
              <a:ext uri="{FF2B5EF4-FFF2-40B4-BE49-F238E27FC236}">
                <a16:creationId xmlns:a16="http://schemas.microsoft.com/office/drawing/2014/main" id="{A1D7EC86-7CB9-431D-8AC3-8AAF0440B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1" name="Rectangle 10">
            <a:extLst>
              <a:ext uri="{FF2B5EF4-FFF2-40B4-BE49-F238E27FC236}">
                <a16:creationId xmlns:a16="http://schemas.microsoft.com/office/drawing/2014/main" id="{D4B9777F-B610-419B-9193-80306388F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!!Arc">
            <a:extLst>
              <a:ext uri="{FF2B5EF4-FFF2-40B4-BE49-F238E27FC236}">
                <a16:creationId xmlns:a16="http://schemas.microsoft.com/office/drawing/2014/main" id="{311F016A-A753-449B-9EA6-322199B71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7715">
            <a:off x="1108520" y="775849"/>
            <a:ext cx="2987899" cy="2987899"/>
          </a:xfrm>
          <a:prstGeom prst="arc">
            <a:avLst>
              <a:gd name="adj1" fmla="val 16200000"/>
              <a:gd name="adj2" fmla="val 2287352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387F31-F3C2-4952-80A3-766E5FE16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742" y="1124988"/>
            <a:ext cx="4425962" cy="2387600"/>
          </a:xfrm>
        </p:spPr>
        <p:txBody>
          <a:bodyPr>
            <a:normAutofit/>
          </a:bodyPr>
          <a:lstStyle/>
          <a:p>
            <a:pPr algn="l"/>
            <a:r>
              <a:rPr lang="en-US"/>
              <a:t>GMOS RUN4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1388A-37C4-439A-BA4E-E7F4433C2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742" y="3633691"/>
            <a:ext cx="4425962" cy="1655762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USER MANUAL</a:t>
            </a:r>
            <a:endParaRPr lang="LID4096" dirty="0"/>
          </a:p>
        </p:txBody>
      </p:sp>
      <p:pic>
        <p:nvPicPr>
          <p:cNvPr id="43" name="Picture 3">
            <a:extLst>
              <a:ext uri="{FF2B5EF4-FFF2-40B4-BE49-F238E27FC236}">
                <a16:creationId xmlns:a16="http://schemas.microsoft.com/office/drawing/2014/main" id="{B22CBFDE-B76C-45B8-A4FB-9C4B2A29F2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83" r="11703" b="-1"/>
          <a:stretch/>
        </p:blipFill>
        <p:spPr>
          <a:xfrm>
            <a:off x="5733768" y="-1"/>
            <a:ext cx="6458232" cy="6858001"/>
          </a:xfrm>
          <a:custGeom>
            <a:avLst/>
            <a:gdLst/>
            <a:ahLst/>
            <a:cxnLst/>
            <a:rect l="l" t="t" r="r" b="b"/>
            <a:pathLst>
              <a:path w="6458232" h="6858001">
                <a:moveTo>
                  <a:pt x="2209000" y="0"/>
                </a:moveTo>
                <a:lnTo>
                  <a:pt x="6458232" y="0"/>
                </a:lnTo>
                <a:lnTo>
                  <a:pt x="6458232" y="6858001"/>
                </a:lnTo>
                <a:lnTo>
                  <a:pt x="651045" y="6858001"/>
                </a:lnTo>
                <a:lnTo>
                  <a:pt x="635146" y="6830200"/>
                </a:lnTo>
                <a:cubicBezTo>
                  <a:pt x="230085" y="6080469"/>
                  <a:pt x="0" y="5221296"/>
                  <a:pt x="0" y="4308089"/>
                </a:cubicBezTo>
                <a:cubicBezTo>
                  <a:pt x="0" y="2572997"/>
                  <a:pt x="830606" y="1032965"/>
                  <a:pt x="2113832" y="68046"/>
                </a:cubicBezTo>
                <a:close/>
              </a:path>
            </a:pathLst>
          </a:custGeom>
        </p:spPr>
      </p:pic>
      <p:sp>
        <p:nvSpPr>
          <p:cNvPr id="15" name="!!Rectangle">
            <a:extLst>
              <a:ext uri="{FF2B5EF4-FFF2-40B4-BE49-F238E27FC236}">
                <a16:creationId xmlns:a16="http://schemas.microsoft.com/office/drawing/2014/main" id="{95106A28-883A-4993-BF9E-C403B81A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94269" y="4274457"/>
            <a:ext cx="825256" cy="82525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!!Oval">
            <a:extLst>
              <a:ext uri="{FF2B5EF4-FFF2-40B4-BE49-F238E27FC236}">
                <a16:creationId xmlns:a16="http://schemas.microsoft.com/office/drawing/2014/main" id="{F5AE4E4F-9F4C-43ED-8299-9BD63B74E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742" y="564968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00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6708-A26D-402E-A242-61067170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Scheme – Block diagram </a:t>
            </a:r>
            <a:endParaRPr lang="LID4096" dirty="0"/>
          </a:p>
        </p:txBody>
      </p:sp>
      <p:pic>
        <p:nvPicPr>
          <p:cNvPr id="547" name="Picture 546">
            <a:extLst>
              <a:ext uri="{FF2B5EF4-FFF2-40B4-BE49-F238E27FC236}">
                <a16:creationId xmlns:a16="http://schemas.microsoft.com/office/drawing/2014/main" id="{7495AA79-AB3D-4053-B24B-667549A65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873" y="1321055"/>
            <a:ext cx="9812253" cy="517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19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6708-A26D-402E-A242-61067170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Board</a:t>
            </a:r>
            <a:endParaRPr lang="LID4096" dirty="0"/>
          </a:p>
        </p:txBody>
      </p:sp>
      <p:pic>
        <p:nvPicPr>
          <p:cNvPr id="4" name="Picture 3" descr="A picture containing electronics&#10;&#10;Description automatically generated">
            <a:extLst>
              <a:ext uri="{FF2B5EF4-FFF2-40B4-BE49-F238E27FC236}">
                <a16:creationId xmlns:a16="http://schemas.microsoft.com/office/drawing/2014/main" id="{E3360D25-4439-4095-8C01-E240B32507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76" t="17482" r="18214" b="5723"/>
          <a:stretch/>
        </p:blipFill>
        <p:spPr>
          <a:xfrm rot="16200000">
            <a:off x="4214633" y="691007"/>
            <a:ext cx="3426106" cy="52664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C111FC-8A03-4712-A41D-5220B54E1EBE}"/>
              </a:ext>
            </a:extLst>
          </p:cNvPr>
          <p:cNvSpPr txBox="1"/>
          <p:nvPr/>
        </p:nvSpPr>
        <p:spPr>
          <a:xfrm>
            <a:off x="2426466" y="2936757"/>
            <a:ext cx="744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UART</a:t>
            </a:r>
            <a:endParaRPr lang="LID4096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7D3FAF2-ACBC-4BEB-9EBA-BF262CBE2C6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170580" y="3121423"/>
            <a:ext cx="464160" cy="20282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5E8977-D9E8-4488-A98A-A50A81FA1AF9}"/>
              </a:ext>
            </a:extLst>
          </p:cNvPr>
          <p:cNvSpPr txBox="1"/>
          <p:nvPr/>
        </p:nvSpPr>
        <p:spPr>
          <a:xfrm>
            <a:off x="9060180" y="3141228"/>
            <a:ext cx="1694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GMOS Sensor</a:t>
            </a:r>
            <a:endParaRPr lang="LID4096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22141B-515E-472E-BA7C-72F339331469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871460" y="3325894"/>
            <a:ext cx="118872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4F2790-97D3-45E9-A12A-055BAFC6AC30}"/>
              </a:ext>
            </a:extLst>
          </p:cNvPr>
          <p:cNvSpPr txBox="1"/>
          <p:nvPr/>
        </p:nvSpPr>
        <p:spPr>
          <a:xfrm>
            <a:off x="6096000" y="5335788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Power</a:t>
            </a:r>
            <a:endParaRPr lang="LID4096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3BCCB5-C1F7-42C7-A9B2-81462F7A0EC6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6537788" y="4747260"/>
            <a:ext cx="762172" cy="58852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07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1100-7456-415A-A481-83AA9A39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Operating Procedure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BEC7-61CD-4390-A9AE-14B6BD230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1" dirty="0"/>
              <a:t>Evaluation Board (EVB) Settings Check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Connect UART Cable as shown in the picture below</a:t>
            </a:r>
          </a:p>
          <a:p>
            <a:pPr marL="914400" lvl="1" indent="-457200">
              <a:buFont typeface="+mj-lt"/>
              <a:buAutoNum type="alphaUcPeriod"/>
            </a:pPr>
            <a:endParaRPr lang="en-US" dirty="0"/>
          </a:p>
          <a:p>
            <a:pPr marL="914400" lvl="1" indent="-457200">
              <a:buFont typeface="+mj-lt"/>
              <a:buAutoNum type="alphaUcPeriod"/>
            </a:pPr>
            <a:endParaRPr lang="en-US" dirty="0"/>
          </a:p>
          <a:p>
            <a:pPr marL="914400" lvl="1" indent="-457200">
              <a:buFont typeface="+mj-lt"/>
              <a:buAutoNum type="alphaUcPeriod"/>
            </a:pPr>
            <a:endParaRPr lang="en-US" dirty="0"/>
          </a:p>
          <a:p>
            <a:pPr marL="914400" lvl="1" indent="-457200">
              <a:buFont typeface="+mj-lt"/>
              <a:buAutoNum type="alphaUcPeriod"/>
            </a:pPr>
            <a:endParaRPr lang="en-US" dirty="0"/>
          </a:p>
          <a:p>
            <a:pPr marL="914400" lvl="1" indent="-457200">
              <a:buFont typeface="+mj-lt"/>
              <a:buAutoNum type="alphaUcPeriod"/>
            </a:pPr>
            <a:endParaRPr lang="en-US" dirty="0"/>
          </a:p>
          <a:p>
            <a:pPr marL="914400" lvl="1" indent="-457200">
              <a:buFont typeface="+mj-lt"/>
              <a:buAutoNum type="alphaUcPeriod"/>
            </a:pP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F4833-9AEC-48FF-896A-0927230727BA}"/>
              </a:ext>
            </a:extLst>
          </p:cNvPr>
          <p:cNvSpPr txBox="1"/>
          <p:nvPr/>
        </p:nvSpPr>
        <p:spPr>
          <a:xfrm>
            <a:off x="838200" y="4686579"/>
            <a:ext cx="5993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lphaUcPeriod" startAt="2"/>
            </a:pPr>
            <a:r>
              <a:rPr lang="en-US" sz="2000" dirty="0"/>
              <a:t>Apply voltage 6.2V with current compliance of 0.2A (from external voltage source) to power up the EVB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C8D27B-36E2-4A66-954D-B918CD5DE76D}"/>
              </a:ext>
            </a:extLst>
          </p:cNvPr>
          <p:cNvGrpSpPr/>
          <p:nvPr/>
        </p:nvGrpSpPr>
        <p:grpSpPr>
          <a:xfrm>
            <a:off x="3357758" y="2582650"/>
            <a:ext cx="7864636" cy="3119592"/>
            <a:chOff x="4076215" y="2565775"/>
            <a:chExt cx="7864636" cy="3119592"/>
          </a:xfrm>
        </p:grpSpPr>
        <p:pic>
          <p:nvPicPr>
            <p:cNvPr id="6" name="Picture 5" descr="A picture containing circuit, electronics&#10;&#10;Description automatically generated">
              <a:extLst>
                <a:ext uri="{FF2B5EF4-FFF2-40B4-BE49-F238E27FC236}">
                  <a16:creationId xmlns:a16="http://schemas.microsoft.com/office/drawing/2014/main" id="{90BC0BAC-BF50-4BAB-B6B3-F128876963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23" t="23862" r="4195" b="19856"/>
            <a:stretch/>
          </p:blipFill>
          <p:spPr>
            <a:xfrm>
              <a:off x="7419118" y="2565775"/>
              <a:ext cx="4521733" cy="311959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7E340E-91BD-4EC9-B5F6-5C3476CE2B46}"/>
                </a:ext>
              </a:extLst>
            </p:cNvPr>
            <p:cNvSpPr txBox="1"/>
            <p:nvPr/>
          </p:nvSpPr>
          <p:spPr>
            <a:xfrm>
              <a:off x="4082183" y="3007211"/>
              <a:ext cx="2337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GND – Black Cable</a:t>
              </a:r>
              <a:endParaRPr lang="LID4096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08B1CBA-1ABE-4B5C-B696-19408C747A7B}"/>
                </a:ext>
              </a:extLst>
            </p:cNvPr>
            <p:cNvSpPr txBox="1"/>
            <p:nvPr/>
          </p:nvSpPr>
          <p:spPr>
            <a:xfrm>
              <a:off x="4076215" y="3560181"/>
              <a:ext cx="30572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TX -&gt; RX – Orange Cable </a:t>
              </a:r>
              <a:endParaRPr lang="LID4096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F7907C-A8B5-4A82-B61B-B15AC8B61B09}"/>
                </a:ext>
              </a:extLst>
            </p:cNvPr>
            <p:cNvSpPr txBox="1"/>
            <p:nvPr/>
          </p:nvSpPr>
          <p:spPr>
            <a:xfrm>
              <a:off x="4082183" y="4125571"/>
              <a:ext cx="28424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RX -&gt; TX – Yellow Cable </a:t>
              </a:r>
              <a:endParaRPr lang="LID4096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1F8D6CB-DCA5-49D0-90A0-3595CF4F9747}"/>
                </a:ext>
              </a:extLst>
            </p:cNvPr>
            <p:cNvCxnSpPr>
              <a:cxnSpLocks/>
              <a:stCxn id="9" idx="3"/>
              <a:endCxn id="22" idx="1"/>
            </p:cNvCxnSpPr>
            <p:nvPr/>
          </p:nvCxnSpPr>
          <p:spPr>
            <a:xfrm>
              <a:off x="6419682" y="3191877"/>
              <a:ext cx="1141018" cy="6413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C9B02A32-22B3-40E8-895C-CFF7834B6DE0}"/>
                </a:ext>
              </a:extLst>
            </p:cNvPr>
            <p:cNvCxnSpPr>
              <a:cxnSpLocks/>
              <a:stCxn id="10" idx="3"/>
              <a:endCxn id="23" idx="1"/>
            </p:cNvCxnSpPr>
            <p:nvPr/>
          </p:nvCxnSpPr>
          <p:spPr>
            <a:xfrm>
              <a:off x="7133462" y="3744847"/>
              <a:ext cx="427238" cy="30378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B5A5AD0A-B33F-4635-A335-36668C903310}"/>
                </a:ext>
              </a:extLst>
            </p:cNvPr>
            <p:cNvCxnSpPr>
              <a:cxnSpLocks/>
              <a:stCxn id="11" idx="3"/>
              <a:endCxn id="24" idx="1"/>
            </p:cNvCxnSpPr>
            <p:nvPr/>
          </p:nvCxnSpPr>
          <p:spPr>
            <a:xfrm flipV="1">
              <a:off x="6924628" y="4241286"/>
              <a:ext cx="636072" cy="6895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CD4E32C-33E2-43DB-9654-39B3A634AD50}"/>
                </a:ext>
              </a:extLst>
            </p:cNvPr>
            <p:cNvSpPr txBox="1"/>
            <p:nvPr/>
          </p:nvSpPr>
          <p:spPr>
            <a:xfrm>
              <a:off x="7560700" y="3679295"/>
              <a:ext cx="2856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1</a:t>
              </a:r>
              <a:endParaRPr lang="LID4096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B21C2E-276B-4CA0-91F7-BC4EC24C1C1E}"/>
                </a:ext>
              </a:extLst>
            </p:cNvPr>
            <p:cNvSpPr txBox="1"/>
            <p:nvPr/>
          </p:nvSpPr>
          <p:spPr>
            <a:xfrm>
              <a:off x="7560700" y="3894739"/>
              <a:ext cx="2856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2</a:t>
              </a:r>
              <a:endParaRPr lang="LID4096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7165CAC-B0F2-4994-8EC2-4B04E61CF229}"/>
                </a:ext>
              </a:extLst>
            </p:cNvPr>
            <p:cNvSpPr txBox="1"/>
            <p:nvPr/>
          </p:nvSpPr>
          <p:spPr>
            <a:xfrm>
              <a:off x="7560700" y="4087397"/>
              <a:ext cx="2856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3</a:t>
              </a:r>
              <a:endParaRPr lang="LID4096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3714D1D-C6C2-4331-83C5-1DAE11CF7084}"/>
              </a:ext>
            </a:extLst>
          </p:cNvPr>
          <p:cNvSpPr txBox="1"/>
          <p:nvPr/>
        </p:nvSpPr>
        <p:spPr>
          <a:xfrm>
            <a:off x="831773" y="6065063"/>
            <a:ext cx="107848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lphaUcPeriod" startAt="3"/>
            </a:pPr>
            <a:r>
              <a:rPr lang="en-US" sz="2000" dirty="0"/>
              <a:t>Current In (I0) should be about 10uA – check the current on jumper J11</a:t>
            </a:r>
          </a:p>
          <a:p>
            <a:pPr lvl="1"/>
            <a:r>
              <a:rPr lang="en-US" sz="2000" dirty="0"/>
              <a:t>	Adjust if needed using potentiometer RV2</a:t>
            </a:r>
          </a:p>
        </p:txBody>
      </p:sp>
    </p:spTree>
    <p:extLst>
      <p:ext uri="{BB962C8B-B14F-4D97-AF65-F5344CB8AC3E}">
        <p14:creationId xmlns:p14="http://schemas.microsoft.com/office/powerpoint/2010/main" val="117701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1100-7456-415A-A481-83AA9A39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Operating Procedure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BEC7-61CD-4390-A9AE-14B6BD230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Operation With GMOS Software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Window overview</a:t>
            </a:r>
          </a:p>
          <a:p>
            <a:pPr marL="914400" lvl="1" indent="-457200">
              <a:buFont typeface="+mj-lt"/>
              <a:buAutoNum type="alphaUcPeriod"/>
            </a:pPr>
            <a:endParaRPr lang="LID4096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DCA9F9-8D65-4154-8E46-9CED1232BD06}"/>
              </a:ext>
            </a:extLst>
          </p:cNvPr>
          <p:cNvGrpSpPr/>
          <p:nvPr/>
        </p:nvGrpSpPr>
        <p:grpSpPr>
          <a:xfrm>
            <a:off x="811182" y="1520531"/>
            <a:ext cx="11253249" cy="5272832"/>
            <a:chOff x="811182" y="1520531"/>
            <a:chExt cx="11253249" cy="527283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F7FADE4-4548-41F4-9D98-6219BE42B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5805" y="2331944"/>
              <a:ext cx="7290890" cy="4315305"/>
            </a:xfrm>
            <a:prstGeom prst="rect">
              <a:avLst/>
            </a:prstGeom>
          </p:spPr>
        </p:pic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3E439453-08EC-4C98-BE9D-6AF26BD590EA}"/>
                </a:ext>
              </a:extLst>
            </p:cNvPr>
            <p:cNvGrpSpPr/>
            <p:nvPr/>
          </p:nvGrpSpPr>
          <p:grpSpPr>
            <a:xfrm>
              <a:off x="811182" y="1520531"/>
              <a:ext cx="11253249" cy="5272832"/>
              <a:chOff x="811182" y="1520531"/>
              <a:chExt cx="11253249" cy="5272832"/>
            </a:xfrm>
          </p:grpSpPr>
          <p:pic>
            <p:nvPicPr>
              <p:cNvPr id="12" name="Picture 11" descr="A picture containing text, clipart&#10;&#10;Description automatically generated">
                <a:extLst>
                  <a:ext uri="{FF2B5EF4-FFF2-40B4-BE49-F238E27FC236}">
                    <a16:creationId xmlns:a16="http://schemas.microsoft.com/office/drawing/2014/main" id="{64D2CD89-83B8-4D67-A4C2-5753DC8D7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39143" y="2613700"/>
                <a:ext cx="1545484" cy="605361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A592C12-3E24-480E-B4E8-EC9ABA615CCB}"/>
                  </a:ext>
                </a:extLst>
              </p:cNvPr>
              <p:cNvSpPr txBox="1"/>
              <p:nvPr/>
            </p:nvSpPr>
            <p:spPr>
              <a:xfrm>
                <a:off x="1274425" y="3900883"/>
                <a:ext cx="81624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Input</a:t>
                </a:r>
              </a:p>
              <a:p>
                <a:r>
                  <a:rPr lang="en-US" dirty="0"/>
                  <a:t>Panel</a:t>
                </a:r>
                <a:endParaRPr lang="LID4096" dirty="0"/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8F31704-9985-41F5-9535-0593DC0DD70D}"/>
                  </a:ext>
                </a:extLst>
              </p:cNvPr>
              <p:cNvCxnSpPr>
                <a:cxnSpLocks/>
                <a:stCxn id="25" idx="3"/>
                <a:endCxn id="34" idx="1"/>
              </p:cNvCxnSpPr>
              <p:nvPr/>
            </p:nvCxnSpPr>
            <p:spPr>
              <a:xfrm>
                <a:off x="2090674" y="4224049"/>
                <a:ext cx="848469" cy="228166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32C85B1F-D346-418F-9310-8640CA32CE47}"/>
                  </a:ext>
                </a:extLst>
              </p:cNvPr>
              <p:cNvSpPr/>
              <p:nvPr/>
            </p:nvSpPr>
            <p:spPr>
              <a:xfrm>
                <a:off x="2939143" y="3219062"/>
                <a:ext cx="2486297" cy="2466305"/>
              </a:xfrm>
              <a:prstGeom prst="roundRect">
                <a:avLst>
                  <a:gd name="adj" fmla="val 3690"/>
                </a:avLst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32279B4E-3E4E-4888-9A7C-C5A325EEEBA4}"/>
                  </a:ext>
                </a:extLst>
              </p:cNvPr>
              <p:cNvSpPr/>
              <p:nvPr/>
            </p:nvSpPr>
            <p:spPr>
              <a:xfrm>
                <a:off x="5519576" y="3219061"/>
                <a:ext cx="3447640" cy="3273814"/>
              </a:xfrm>
              <a:prstGeom prst="roundRect">
                <a:avLst>
                  <a:gd name="adj" fmla="val 3690"/>
                </a:avLst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E187783B-AE5F-4A49-AFD8-6C3C97092282}"/>
                  </a:ext>
                </a:extLst>
              </p:cNvPr>
              <p:cNvSpPr/>
              <p:nvPr/>
            </p:nvSpPr>
            <p:spPr>
              <a:xfrm>
                <a:off x="9061352" y="3499103"/>
                <a:ext cx="1039974" cy="1603249"/>
              </a:xfrm>
              <a:prstGeom prst="roundRect">
                <a:avLst>
                  <a:gd name="adj" fmla="val 3690"/>
                </a:avLst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C3EDD17F-79E2-4984-BA1C-95EC9605241B}"/>
                  </a:ext>
                </a:extLst>
              </p:cNvPr>
              <p:cNvSpPr/>
              <p:nvPr/>
            </p:nvSpPr>
            <p:spPr>
              <a:xfrm>
                <a:off x="9011490" y="5257799"/>
                <a:ext cx="1039974" cy="1143001"/>
              </a:xfrm>
              <a:prstGeom prst="roundRect">
                <a:avLst>
                  <a:gd name="adj" fmla="val 3690"/>
                </a:avLst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dirty="0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6E1770BE-2719-4C3B-B039-F55759769CA9}"/>
                  </a:ext>
                </a:extLst>
              </p:cNvPr>
              <p:cNvSpPr/>
              <p:nvPr/>
            </p:nvSpPr>
            <p:spPr>
              <a:xfrm>
                <a:off x="2939143" y="5745479"/>
                <a:ext cx="2486296" cy="870702"/>
              </a:xfrm>
              <a:prstGeom prst="roundRect">
                <a:avLst>
                  <a:gd name="adj" fmla="val 3690"/>
                </a:avLst>
              </a:prstGeom>
              <a:noFill/>
              <a:ln w="28575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E76E859-7DA4-4A39-BD2C-381F8F315EDF}"/>
                  </a:ext>
                </a:extLst>
              </p:cNvPr>
              <p:cNvSpPr txBox="1"/>
              <p:nvPr/>
            </p:nvSpPr>
            <p:spPr>
              <a:xfrm>
                <a:off x="10185302" y="2420721"/>
                <a:ext cx="17411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Start</a:t>
                </a:r>
              </a:p>
              <a:p>
                <a:pPr algn="ctr"/>
                <a:r>
                  <a:rPr lang="en-US" dirty="0"/>
                  <a:t>Measurement</a:t>
                </a:r>
              </a:p>
              <a:p>
                <a:pPr algn="ctr"/>
                <a:r>
                  <a:rPr lang="en-US" dirty="0"/>
                  <a:t>Button</a:t>
                </a:r>
                <a:endParaRPr lang="LID4096" dirty="0"/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1FC373EA-E324-47E6-91FA-24F0CCBE7714}"/>
                  </a:ext>
                </a:extLst>
              </p:cNvPr>
              <p:cNvCxnSpPr>
                <a:cxnSpLocks/>
                <a:stCxn id="40" idx="1"/>
              </p:cNvCxnSpPr>
              <p:nvPr/>
            </p:nvCxnSpPr>
            <p:spPr>
              <a:xfrm flipH="1">
                <a:off x="9581340" y="2882386"/>
                <a:ext cx="603962" cy="35083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261D461-EDF4-4DF0-8B68-BCD482DFACEA}"/>
                  </a:ext>
                </a:extLst>
              </p:cNvPr>
              <p:cNvSpPr txBox="1"/>
              <p:nvPr/>
            </p:nvSpPr>
            <p:spPr>
              <a:xfrm>
                <a:off x="10551587" y="3685706"/>
                <a:ext cx="100860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Graph</a:t>
                </a:r>
              </a:p>
              <a:p>
                <a:pPr algn="ctr"/>
                <a:r>
                  <a:rPr lang="en-US" dirty="0"/>
                  <a:t>Control</a:t>
                </a:r>
              </a:p>
              <a:p>
                <a:pPr algn="ctr"/>
                <a:r>
                  <a:rPr lang="en-US" dirty="0"/>
                  <a:t>Panel</a:t>
                </a:r>
                <a:endParaRPr lang="LID4096" dirty="0"/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6E10A24A-75D5-43F8-B517-3BC99B227BC1}"/>
                  </a:ext>
                </a:extLst>
              </p:cNvPr>
              <p:cNvCxnSpPr>
                <a:cxnSpLocks/>
                <a:stCxn id="45" idx="1"/>
                <a:endCxn id="37" idx="3"/>
              </p:cNvCxnSpPr>
              <p:nvPr/>
            </p:nvCxnSpPr>
            <p:spPr>
              <a:xfrm flipH="1">
                <a:off x="10101326" y="4147371"/>
                <a:ext cx="450261" cy="15335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826EEA9-B523-4987-8A5E-76E05BB94F49}"/>
                  </a:ext>
                </a:extLst>
              </p:cNvPr>
              <p:cNvSpPr txBox="1"/>
              <p:nvPr/>
            </p:nvSpPr>
            <p:spPr>
              <a:xfrm>
                <a:off x="10326456" y="5253758"/>
                <a:ext cx="173797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Blind &amp; Active</a:t>
                </a:r>
              </a:p>
              <a:p>
                <a:pPr algn="ctr"/>
                <a:r>
                  <a:rPr lang="en-US" dirty="0"/>
                  <a:t>Drain Voltage</a:t>
                </a:r>
              </a:p>
              <a:p>
                <a:pPr algn="ctr"/>
                <a:r>
                  <a:rPr lang="en-US" dirty="0"/>
                  <a:t>Auto Setting</a:t>
                </a: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07B10C68-AFC3-412D-A3BD-709AE9DC3ED1}"/>
                  </a:ext>
                </a:extLst>
              </p:cNvPr>
              <p:cNvCxnSpPr>
                <a:cxnSpLocks/>
                <a:stCxn id="50" idx="1"/>
                <a:endCxn id="38" idx="3"/>
              </p:cNvCxnSpPr>
              <p:nvPr/>
            </p:nvCxnSpPr>
            <p:spPr>
              <a:xfrm flipH="1">
                <a:off x="10051464" y="5715423"/>
                <a:ext cx="274992" cy="11387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4469709-2FB0-485C-9BBF-785DEAD777F4}"/>
                  </a:ext>
                </a:extLst>
              </p:cNvPr>
              <p:cNvSpPr txBox="1"/>
              <p:nvPr/>
            </p:nvSpPr>
            <p:spPr>
              <a:xfrm>
                <a:off x="6910916" y="1520531"/>
                <a:ext cx="226857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Graphs</a:t>
                </a:r>
              </a:p>
              <a:p>
                <a:pPr algn="ctr"/>
                <a:r>
                  <a:rPr lang="en-US" dirty="0"/>
                  <a:t>For 4 different</a:t>
                </a:r>
              </a:p>
              <a:p>
                <a:pPr algn="ctr"/>
                <a:r>
                  <a:rPr lang="en-US" dirty="0"/>
                  <a:t>pixel temperatures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85688178-A886-4C7A-9334-48AAACE513F2}"/>
                  </a:ext>
                </a:extLst>
              </p:cNvPr>
              <p:cNvCxnSpPr>
                <a:cxnSpLocks/>
                <a:stCxn id="54" idx="2"/>
                <a:endCxn id="36" idx="0"/>
              </p:cNvCxnSpPr>
              <p:nvPr/>
            </p:nvCxnSpPr>
            <p:spPr>
              <a:xfrm flipH="1">
                <a:off x="7243396" y="2443861"/>
                <a:ext cx="801805" cy="77520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AF5FAC7-D844-48C5-953E-F52B4F81115E}"/>
                  </a:ext>
                </a:extLst>
              </p:cNvPr>
              <p:cNvSpPr txBox="1"/>
              <p:nvPr/>
            </p:nvSpPr>
            <p:spPr>
              <a:xfrm>
                <a:off x="811182" y="5870033"/>
                <a:ext cx="162256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Heater</a:t>
                </a:r>
              </a:p>
              <a:p>
                <a:pPr algn="ctr"/>
                <a:r>
                  <a:rPr lang="en-US" dirty="0"/>
                  <a:t>Temperature</a:t>
                </a:r>
              </a:p>
              <a:p>
                <a:pPr algn="ctr"/>
                <a:r>
                  <a:rPr lang="en-US" dirty="0"/>
                  <a:t>Control</a:t>
                </a:r>
                <a:endParaRPr lang="LID4096" dirty="0"/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A19541E-7367-48F6-8926-CFD3BA63C84D}"/>
                  </a:ext>
                </a:extLst>
              </p:cNvPr>
              <p:cNvCxnSpPr>
                <a:cxnSpLocks/>
                <a:stCxn id="59" idx="3"/>
                <a:endCxn id="39" idx="1"/>
              </p:cNvCxnSpPr>
              <p:nvPr/>
            </p:nvCxnSpPr>
            <p:spPr>
              <a:xfrm flipV="1">
                <a:off x="2433742" y="6180830"/>
                <a:ext cx="505401" cy="15086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622437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1100-7456-415A-A481-83AA9A39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Operating Procedure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BEC7-61CD-4390-A9AE-14B6BD230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Operation With GMOS Software</a:t>
            </a:r>
          </a:p>
          <a:p>
            <a:pPr marL="914400" lvl="1" indent="-457200">
              <a:buFont typeface="+mj-lt"/>
              <a:buAutoNum type="alphaUcPeriod" startAt="2"/>
            </a:pPr>
            <a:r>
              <a:rPr lang="en-US" dirty="0"/>
              <a:t>Input Panel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CFF5F7-F8B9-499D-AAFD-6726C3515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635" y="2465705"/>
            <a:ext cx="3686576" cy="36309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B348CF-4DA6-4D6C-BD1D-A8C38BDD2691}"/>
              </a:ext>
            </a:extLst>
          </p:cNvPr>
          <p:cNvSpPr txBox="1"/>
          <p:nvPr/>
        </p:nvSpPr>
        <p:spPr>
          <a:xfrm>
            <a:off x="2355097" y="2816069"/>
            <a:ext cx="4810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Voltage applied to “</a:t>
            </a:r>
            <a:r>
              <a:rPr lang="en-US" b="1" dirty="0"/>
              <a:t>Blind</a:t>
            </a:r>
            <a:r>
              <a:rPr lang="en-US" dirty="0"/>
              <a:t>” current source</a:t>
            </a:r>
            <a:endParaRPr lang="LID4096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B61FB3-5E8B-49F7-A46B-82DA0ADF187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166029" y="3000735"/>
            <a:ext cx="1022931" cy="1381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7C26C64-8B7D-4CBF-A3AC-E871C32CC988}"/>
              </a:ext>
            </a:extLst>
          </p:cNvPr>
          <p:cNvSpPr txBox="1"/>
          <p:nvPr/>
        </p:nvSpPr>
        <p:spPr>
          <a:xfrm>
            <a:off x="2355097" y="3206369"/>
            <a:ext cx="500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Voltage applied to “</a:t>
            </a:r>
            <a:r>
              <a:rPr lang="en-US" b="1" dirty="0"/>
              <a:t>Active</a:t>
            </a:r>
            <a:r>
              <a:rPr lang="en-US" dirty="0"/>
              <a:t>” current source</a:t>
            </a:r>
            <a:endParaRPr lang="LID4096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243DCC-7CBC-4085-9844-CC681E127492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7361596" y="3294668"/>
            <a:ext cx="827364" cy="96367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5E2092D-CD38-443C-9E4C-A0AEB3162487}"/>
              </a:ext>
            </a:extLst>
          </p:cNvPr>
          <p:cNvSpPr txBox="1"/>
          <p:nvPr/>
        </p:nvSpPr>
        <p:spPr>
          <a:xfrm>
            <a:off x="1339452" y="3570830"/>
            <a:ext cx="6117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Heater voltage amplitude applied to heating resistor</a:t>
            </a:r>
            <a:endParaRPr lang="LID4096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C246CA-4173-4B5C-82DA-E982C57C1FDF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7456832" y="3442456"/>
            <a:ext cx="732128" cy="31304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Left Brace 18">
            <a:extLst>
              <a:ext uri="{FF2B5EF4-FFF2-40B4-BE49-F238E27FC236}">
                <a16:creationId xmlns:a16="http://schemas.microsoft.com/office/drawing/2014/main" id="{6EAE3354-DB99-4CE3-8B9E-104A65718678}"/>
              </a:ext>
            </a:extLst>
          </p:cNvPr>
          <p:cNvSpPr/>
          <p:nvPr/>
        </p:nvSpPr>
        <p:spPr>
          <a:xfrm>
            <a:off x="7889612" y="3546802"/>
            <a:ext cx="299348" cy="767209"/>
          </a:xfrm>
          <a:prstGeom prst="leftBrac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889FD9-6042-4F69-831F-B01DEE1CBBC2}"/>
              </a:ext>
            </a:extLst>
          </p:cNvPr>
          <p:cNvSpPr txBox="1"/>
          <p:nvPr/>
        </p:nvSpPr>
        <p:spPr>
          <a:xfrm>
            <a:off x="330504" y="3956259"/>
            <a:ext cx="7031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Digital Potentiometers connected to Sources of GMOS sensor</a:t>
            </a:r>
            <a:endParaRPr lang="LID4096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5D90E50-3D6A-4416-991A-2D8763D3C59B}"/>
              </a:ext>
            </a:extLst>
          </p:cNvPr>
          <p:cNvCxnSpPr>
            <a:cxnSpLocks/>
            <a:stCxn id="21" idx="3"/>
            <a:endCxn id="19" idx="1"/>
          </p:cNvCxnSpPr>
          <p:nvPr/>
        </p:nvCxnSpPr>
        <p:spPr>
          <a:xfrm flipV="1">
            <a:off x="7361596" y="3930407"/>
            <a:ext cx="528016" cy="21051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F5E0F70-79FF-419C-9FB1-0D7AFD87AD58}"/>
              </a:ext>
            </a:extLst>
          </p:cNvPr>
          <p:cNvSpPr txBox="1"/>
          <p:nvPr/>
        </p:nvSpPr>
        <p:spPr>
          <a:xfrm>
            <a:off x="2061379" y="4685865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GAIN Table</a:t>
            </a:r>
            <a:endParaRPr lang="LID4096" dirty="0"/>
          </a:p>
        </p:txBody>
      </p:sp>
      <p:graphicFrame>
        <p:nvGraphicFramePr>
          <p:cNvPr id="24" name="Table 25">
            <a:extLst>
              <a:ext uri="{FF2B5EF4-FFF2-40B4-BE49-F238E27FC236}">
                <a16:creationId xmlns:a16="http://schemas.microsoft.com/office/drawing/2014/main" id="{12516366-073A-4D73-913F-08838D1A4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097314"/>
              </p:ext>
            </p:extLst>
          </p:nvPr>
        </p:nvGraphicFramePr>
        <p:xfrm>
          <a:off x="1389915" y="5055197"/>
          <a:ext cx="2798776" cy="15605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05565">
                  <a:extLst>
                    <a:ext uri="{9D8B030D-6E8A-4147-A177-3AD203B41FA5}">
                      <a16:colId xmlns:a16="http://schemas.microsoft.com/office/drawing/2014/main" val="3640896701"/>
                    </a:ext>
                  </a:extLst>
                </a:gridCol>
                <a:gridCol w="1193211">
                  <a:extLst>
                    <a:ext uri="{9D8B030D-6E8A-4147-A177-3AD203B41FA5}">
                      <a16:colId xmlns:a16="http://schemas.microsoft.com/office/drawing/2014/main" val="2207415494"/>
                    </a:ext>
                  </a:extLst>
                </a:gridCol>
              </a:tblGrid>
              <a:tr h="31210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GAIN MUX #</a:t>
                      </a:r>
                      <a:endParaRPr lang="LID4096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GAIN</a:t>
                      </a:r>
                      <a:endParaRPr lang="LID4096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202067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  <a:endParaRPr lang="LID4096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  <a:endParaRPr lang="LID4096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366461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  <a:endParaRPr lang="LID4096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</a:t>
                      </a:r>
                      <a:endParaRPr lang="LID4096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702360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2</a:t>
                      </a:r>
                      <a:endParaRPr lang="LID4096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100</a:t>
                      </a:r>
                      <a:endParaRPr lang="LID4096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70811"/>
                  </a:ext>
                </a:extLst>
              </a:tr>
              <a:tr h="31210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3</a:t>
                      </a:r>
                      <a:endParaRPr lang="LID4096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1000</a:t>
                      </a:r>
                      <a:endParaRPr lang="LID4096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7515139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F797441-4675-4518-988F-2682A8C8CAEE}"/>
              </a:ext>
            </a:extLst>
          </p:cNvPr>
          <p:cNvSpPr txBox="1"/>
          <p:nvPr/>
        </p:nvSpPr>
        <p:spPr>
          <a:xfrm>
            <a:off x="5418462" y="4460528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GAIN Select</a:t>
            </a:r>
            <a:endParaRPr lang="LID4096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4D1B68-F112-4B6D-9A90-5C2182E09CFC}"/>
              </a:ext>
            </a:extLst>
          </p:cNvPr>
          <p:cNvSpPr txBox="1"/>
          <p:nvPr/>
        </p:nvSpPr>
        <p:spPr>
          <a:xfrm>
            <a:off x="5121880" y="4815628"/>
            <a:ext cx="223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Active pixel Select</a:t>
            </a:r>
            <a:endParaRPr lang="LID4096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AE3CE9-A49B-4EE5-B526-5A22F53FCF6E}"/>
              </a:ext>
            </a:extLst>
          </p:cNvPr>
          <p:cNvSpPr txBox="1"/>
          <p:nvPr/>
        </p:nvSpPr>
        <p:spPr>
          <a:xfrm>
            <a:off x="4804432" y="5219806"/>
            <a:ext cx="2844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Pulse length and period</a:t>
            </a:r>
            <a:endParaRPr lang="LID4096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0C6614-0D4C-4D99-A366-F5F8AA350372}"/>
              </a:ext>
            </a:extLst>
          </p:cNvPr>
          <p:cNvSpPr txBox="1"/>
          <p:nvPr/>
        </p:nvSpPr>
        <p:spPr>
          <a:xfrm>
            <a:off x="4967325" y="5706740"/>
            <a:ext cx="225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Saving the settings</a:t>
            </a:r>
            <a:endParaRPr lang="LID4096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4F2C36-219E-4C77-A7E8-5CC348F119E3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6956062" y="4645194"/>
            <a:ext cx="987140" cy="20603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B04DED-4FAC-48C5-9977-568DD0D37326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7361596" y="5000294"/>
            <a:ext cx="609296" cy="5490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871C8A1-474C-4040-B324-94E9446F7FC8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648480" y="5404472"/>
            <a:ext cx="29080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4E6BDEA-0504-452B-A3BE-CD54ACA7CC5A}"/>
              </a:ext>
            </a:extLst>
          </p:cNvPr>
          <p:cNvCxnSpPr>
            <a:cxnSpLocks/>
            <a:stCxn id="31" idx="3"/>
          </p:cNvCxnSpPr>
          <p:nvPr/>
        </p:nvCxnSpPr>
        <p:spPr>
          <a:xfrm flipV="1">
            <a:off x="7224674" y="5849976"/>
            <a:ext cx="1319886" cy="4143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2850342-6FDF-4DA1-9E83-C0D1FB5BFC99}"/>
              </a:ext>
            </a:extLst>
          </p:cNvPr>
          <p:cNvSpPr txBox="1"/>
          <p:nvPr/>
        </p:nvSpPr>
        <p:spPr>
          <a:xfrm>
            <a:off x="8706205" y="6211669"/>
            <a:ext cx="28488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Measuring Temperature</a:t>
            </a:r>
          </a:p>
          <a:p>
            <a:pPr algn="ctr"/>
            <a:r>
              <a:rPr lang="en-US" dirty="0"/>
              <a:t>Switch</a:t>
            </a:r>
            <a:endParaRPr lang="LID4096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8365EF6-66D4-48F9-A39A-224E22D0BB0B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10130634" y="5820304"/>
            <a:ext cx="334166" cy="39136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632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1100-7456-415A-A481-83AA9A39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Operating Procedure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BEC7-61CD-4390-A9AE-14B6BD230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Operation With GMOS Software</a:t>
            </a:r>
          </a:p>
          <a:p>
            <a:pPr marL="914400" lvl="1" indent="-457200">
              <a:buFont typeface="+mj-lt"/>
              <a:buAutoNum type="alphaUcPeriod" startAt="3"/>
            </a:pPr>
            <a:r>
              <a:rPr lang="en-US" dirty="0"/>
              <a:t>Heater Temperature Control Panel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i="1" u="sng" dirty="0"/>
              <a:t>Note: This panel is still in development</a:t>
            </a:r>
            <a:endParaRPr lang="en-US" u="sng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07EB79C-C0F7-48C5-987D-DEE37820BAD0}"/>
              </a:ext>
            </a:extLst>
          </p:cNvPr>
          <p:cNvGrpSpPr/>
          <p:nvPr/>
        </p:nvGrpSpPr>
        <p:grpSpPr>
          <a:xfrm>
            <a:off x="1469045" y="3265690"/>
            <a:ext cx="9884755" cy="3387668"/>
            <a:chOff x="2150341" y="2351290"/>
            <a:chExt cx="9884755" cy="3387668"/>
          </a:xfrm>
        </p:grpSpPr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6EAE3354-DB99-4CE3-8B9E-104A65718678}"/>
                </a:ext>
              </a:extLst>
            </p:cNvPr>
            <p:cNvSpPr/>
            <p:nvPr/>
          </p:nvSpPr>
          <p:spPr>
            <a:xfrm>
              <a:off x="6542648" y="2717074"/>
              <a:ext cx="413414" cy="1388353"/>
            </a:xfrm>
            <a:prstGeom prst="leftBrace">
              <a:avLst>
                <a:gd name="adj1" fmla="val 8333"/>
                <a:gd name="adj2" fmla="val 49268"/>
              </a:avLst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0889FD9-6042-4F69-831F-B01DEE1CBBC2}"/>
                </a:ext>
              </a:extLst>
            </p:cNvPr>
            <p:cNvSpPr txBox="1"/>
            <p:nvPr/>
          </p:nvSpPr>
          <p:spPr>
            <a:xfrm>
              <a:off x="2150341" y="3201589"/>
              <a:ext cx="4370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Resistance of heating resistor in Ohms</a:t>
              </a:r>
              <a:endParaRPr lang="LID4096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2850342-6FDF-4DA1-9E83-C0D1FB5BFC99}"/>
                </a:ext>
              </a:extLst>
            </p:cNvPr>
            <p:cNvSpPr txBox="1"/>
            <p:nvPr/>
          </p:nvSpPr>
          <p:spPr>
            <a:xfrm>
              <a:off x="8032076" y="4815628"/>
              <a:ext cx="400302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Ambient Temperature</a:t>
              </a:r>
            </a:p>
            <a:p>
              <a:pPr algn="ctr"/>
              <a:r>
                <a:rPr lang="en-US" dirty="0"/>
                <a:t>And Humidity</a:t>
              </a:r>
            </a:p>
            <a:p>
              <a:pPr algn="ctr"/>
              <a:r>
                <a:rPr lang="en-US" dirty="0"/>
                <a:t>(From Temp/Humid sensor on EVB)</a:t>
              </a:r>
              <a:endParaRPr lang="LID4096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EEF639B-DEA2-48FD-BF7E-D179D79C5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01272" y="2351290"/>
              <a:ext cx="4953000" cy="19050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4AB767C-965C-4DCD-8FE4-20F21FA339F8}"/>
                </a:ext>
              </a:extLst>
            </p:cNvPr>
            <p:cNvSpPr txBox="1"/>
            <p:nvPr/>
          </p:nvSpPr>
          <p:spPr>
            <a:xfrm>
              <a:off x="7167556" y="2685964"/>
              <a:ext cx="6896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Input</a:t>
              </a:r>
              <a:endParaRPr lang="LID4096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A4F6E4A-56D8-44DC-A0D7-207505D2FFBC}"/>
                </a:ext>
              </a:extLst>
            </p:cNvPr>
            <p:cNvSpPr txBox="1"/>
            <p:nvPr/>
          </p:nvSpPr>
          <p:spPr>
            <a:xfrm>
              <a:off x="7167556" y="3411250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Blind</a:t>
              </a:r>
              <a:endParaRPr lang="LID4096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3849437-F3FD-4629-92A8-7778B74EB9A2}"/>
                </a:ext>
              </a:extLst>
            </p:cNvPr>
            <p:cNvSpPr txBox="1"/>
            <p:nvPr/>
          </p:nvSpPr>
          <p:spPr>
            <a:xfrm>
              <a:off x="7113416" y="3799794"/>
              <a:ext cx="8258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Active</a:t>
              </a:r>
              <a:endParaRPr lang="LID4096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52B473B-DA63-4A89-A801-62E5ECD9EF9E}"/>
                </a:ext>
              </a:extLst>
            </p:cNvPr>
            <p:cNvSpPr txBox="1"/>
            <p:nvPr/>
          </p:nvSpPr>
          <p:spPr>
            <a:xfrm>
              <a:off x="7224674" y="3047701"/>
              <a:ext cx="4972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NC</a:t>
              </a:r>
              <a:endParaRPr lang="LID4096" sz="16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8365EF6-66D4-48F9-A39A-224E22D0BB0B}"/>
                </a:ext>
              </a:extLst>
            </p:cNvPr>
            <p:cNvCxnSpPr>
              <a:cxnSpLocks/>
              <a:stCxn id="44" idx="0"/>
            </p:cNvCxnSpPr>
            <p:nvPr/>
          </p:nvCxnSpPr>
          <p:spPr>
            <a:xfrm flipV="1">
              <a:off x="10033586" y="3386255"/>
              <a:ext cx="441374" cy="142937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59244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9D763E-06B2-478D-A7BD-243C0D846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445" y="2431813"/>
            <a:ext cx="7467131" cy="44196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CA1100-7456-415A-A481-83AA9A39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Operating Procedure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BEC7-61CD-4390-A9AE-14B6BD230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Operation With GMOS Software</a:t>
            </a:r>
          </a:p>
          <a:p>
            <a:pPr marL="914400" lvl="1" indent="-457200">
              <a:buFont typeface="+mj-lt"/>
              <a:buAutoNum type="alphaUcPeriod" startAt="4"/>
            </a:pPr>
            <a:r>
              <a:rPr lang="en-US" dirty="0"/>
              <a:t>Blind &amp; Active Drain Voltage Auto Setting</a:t>
            </a:r>
          </a:p>
          <a:p>
            <a:pPr marL="914400" lvl="1" indent="-457200">
              <a:buFont typeface="+mj-lt"/>
              <a:buAutoNum type="alphaUcPeriod" startAt="4"/>
            </a:pPr>
            <a:endParaRPr lang="LID4096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E439453-08EC-4C98-BE9D-6AF26BD590EA}"/>
              </a:ext>
            </a:extLst>
          </p:cNvPr>
          <p:cNvGrpSpPr/>
          <p:nvPr/>
        </p:nvGrpSpPr>
        <p:grpSpPr>
          <a:xfrm>
            <a:off x="1215271" y="1392120"/>
            <a:ext cx="10831700" cy="5355312"/>
            <a:chOff x="1215271" y="1362305"/>
            <a:chExt cx="10831700" cy="5355312"/>
          </a:xfrm>
        </p:grpSpPr>
        <p:pic>
          <p:nvPicPr>
            <p:cNvPr id="12" name="Picture 11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64D2CD89-83B8-4D67-A4C2-5753DC8D7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5271" y="2684820"/>
              <a:ext cx="1545484" cy="605361"/>
            </a:xfrm>
            <a:prstGeom prst="rect">
              <a:avLst/>
            </a:prstGeom>
          </p:spPr>
        </p:pic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3EDD17F-79E2-4984-BA1C-95EC9605241B}"/>
                </a:ext>
              </a:extLst>
            </p:cNvPr>
            <p:cNvSpPr/>
            <p:nvPr/>
          </p:nvSpPr>
          <p:spPr>
            <a:xfrm>
              <a:off x="7314770" y="5332623"/>
              <a:ext cx="1146660" cy="1260304"/>
            </a:xfrm>
            <a:prstGeom prst="roundRect">
              <a:avLst>
                <a:gd name="adj" fmla="val 3690"/>
              </a:avLst>
            </a:prstGeom>
            <a:noFill/>
            <a:ln w="2857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826EEA9-B523-4987-8A5E-76E05BB94F49}"/>
                </a:ext>
              </a:extLst>
            </p:cNvPr>
            <p:cNvSpPr txBox="1"/>
            <p:nvPr/>
          </p:nvSpPr>
          <p:spPr>
            <a:xfrm>
              <a:off x="8741821" y="1362305"/>
              <a:ext cx="3305150" cy="53553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Setting target drain voltage for Blind &amp; Active pixels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Defining the updating  rate (alpha)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Starting the algorithm by clicking on “ENABLE”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When the algorithm is working VDAC I1 and VDAC I2 are changing</a:t>
              </a:r>
              <a:endParaRPr lang="LID4096" dirty="0"/>
            </a:p>
            <a:p>
              <a:pPr marL="342900" indent="-342900">
                <a:buFont typeface="+mj-lt"/>
                <a:buAutoNum type="arabicPeriod"/>
              </a:pPr>
              <a:r>
                <a:rPr lang="en-US" dirty="0"/>
                <a:t>Stop by unchecking the “ENABLE” box when the voltages are close to the target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US" dirty="0" err="1"/>
                <a:t>Vheat</a:t>
              </a:r>
              <a:r>
                <a:rPr lang="en-US" dirty="0"/>
                <a:t> tracking – enables temperature control by adjusting the R4 (Active) heating resistor value to a target value (R target)</a:t>
              </a:r>
            </a:p>
          </p:txBody>
        </p:sp>
      </p:grp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10B295B-4F78-4E23-816A-DBF95BD43522}"/>
              </a:ext>
            </a:extLst>
          </p:cNvPr>
          <p:cNvCxnSpPr>
            <a:cxnSpLocks/>
            <a:stCxn id="50" idx="1"/>
            <a:endCxn id="38" idx="3"/>
          </p:cNvCxnSpPr>
          <p:nvPr/>
        </p:nvCxnSpPr>
        <p:spPr>
          <a:xfrm rot="10800000" flipV="1">
            <a:off x="8461431" y="4069776"/>
            <a:ext cx="280391" cy="1922814"/>
          </a:xfrm>
          <a:prstGeom prst="bentConnector3">
            <a:avLst/>
          </a:prstGeom>
          <a:ln w="28575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28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5C0030-86EF-498A-97D0-0F0BF74E91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97"/>
          <a:stretch/>
        </p:blipFill>
        <p:spPr>
          <a:xfrm>
            <a:off x="50716" y="2574087"/>
            <a:ext cx="7321445" cy="42121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CA1100-7456-415A-A481-83AA9A39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Operating Procedure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BEC7-61CD-4390-A9AE-14B6BD230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Operation With GMOS Software</a:t>
            </a:r>
          </a:p>
          <a:p>
            <a:pPr marL="914400" lvl="1" indent="-457200">
              <a:buFont typeface="+mj-lt"/>
              <a:buAutoNum type="alphaUcPeriod" startAt="5"/>
            </a:pPr>
            <a:r>
              <a:rPr lang="en-US" dirty="0"/>
              <a:t>Graph control</a:t>
            </a:r>
          </a:p>
          <a:p>
            <a:pPr marL="914400" lvl="1" indent="-457200">
              <a:buFont typeface="+mj-lt"/>
              <a:buAutoNum type="alphaUcPeriod" startAt="5"/>
            </a:pPr>
            <a:endParaRPr lang="LID4096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E439453-08EC-4C98-BE9D-6AF26BD590EA}"/>
              </a:ext>
            </a:extLst>
          </p:cNvPr>
          <p:cNvGrpSpPr/>
          <p:nvPr/>
        </p:nvGrpSpPr>
        <p:grpSpPr>
          <a:xfrm>
            <a:off x="77351" y="2694315"/>
            <a:ext cx="11874738" cy="1584370"/>
            <a:chOff x="1215271" y="2684820"/>
            <a:chExt cx="11874738" cy="1584370"/>
          </a:xfrm>
        </p:grpSpPr>
        <p:pic>
          <p:nvPicPr>
            <p:cNvPr id="12" name="Picture 11" descr="A picture containing text, clipart&#10;&#10;Description automatically generated">
              <a:extLst>
                <a:ext uri="{FF2B5EF4-FFF2-40B4-BE49-F238E27FC236}">
                  <a16:creationId xmlns:a16="http://schemas.microsoft.com/office/drawing/2014/main" id="{64D2CD89-83B8-4D67-A4C2-5753DC8D7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5271" y="2684820"/>
              <a:ext cx="1545484" cy="605361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826EEA9-B523-4987-8A5E-76E05BB94F49}"/>
                </a:ext>
              </a:extLst>
            </p:cNvPr>
            <p:cNvSpPr txBox="1"/>
            <p:nvPr/>
          </p:nvSpPr>
          <p:spPr>
            <a:xfrm>
              <a:off x="8914643" y="3622859"/>
              <a:ext cx="417536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Visualization of the desired graph by checking the box  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35B866A-F246-4B22-A1B5-F241EBB48758}"/>
              </a:ext>
            </a:extLst>
          </p:cNvPr>
          <p:cNvCxnSpPr>
            <a:cxnSpLocks/>
            <a:stCxn id="50" idx="1"/>
          </p:cNvCxnSpPr>
          <p:nvPr/>
        </p:nvCxnSpPr>
        <p:spPr>
          <a:xfrm flipH="1">
            <a:off x="6939280" y="3955520"/>
            <a:ext cx="837443" cy="45810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5018D3F-A2E8-43B1-9D32-B2FC7CFEDACC}"/>
              </a:ext>
            </a:extLst>
          </p:cNvPr>
          <p:cNvSpPr txBox="1"/>
          <p:nvPr/>
        </p:nvSpPr>
        <p:spPr>
          <a:xfrm>
            <a:off x="7776723" y="4668234"/>
            <a:ext cx="357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Saving the log file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8A6FCB-F41D-474B-B60E-56B5B25524AA}"/>
              </a:ext>
            </a:extLst>
          </p:cNvPr>
          <p:cNvSpPr txBox="1"/>
          <p:nvPr/>
        </p:nvSpPr>
        <p:spPr>
          <a:xfrm>
            <a:off x="7776723" y="2574087"/>
            <a:ext cx="4175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visualization is in autoscaling mode – to change -&gt; change the plot length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F3FB1FB-3D66-4993-8BA5-8657ED0D4229}"/>
              </a:ext>
            </a:extLst>
          </p:cNvPr>
          <p:cNvCxnSpPr>
            <a:cxnSpLocks/>
            <a:stCxn id="35" idx="1"/>
          </p:cNvCxnSpPr>
          <p:nvPr/>
        </p:nvCxnSpPr>
        <p:spPr>
          <a:xfrm flipH="1">
            <a:off x="7207596" y="3035752"/>
            <a:ext cx="569127" cy="66515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45F9069-14A9-4FE4-BA09-37919D68A3D3}"/>
              </a:ext>
            </a:extLst>
          </p:cNvPr>
          <p:cNvCxnSpPr>
            <a:cxnSpLocks/>
            <a:stCxn id="32" idx="1"/>
          </p:cNvCxnSpPr>
          <p:nvPr/>
        </p:nvCxnSpPr>
        <p:spPr>
          <a:xfrm flipH="1">
            <a:off x="7323510" y="4852900"/>
            <a:ext cx="453213" cy="18466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CCBB494-271A-4861-A575-4D78CD4FF7F2}"/>
              </a:ext>
            </a:extLst>
          </p:cNvPr>
          <p:cNvSpPr txBox="1"/>
          <p:nvPr/>
        </p:nvSpPr>
        <p:spPr>
          <a:xfrm>
            <a:off x="7776723" y="5258675"/>
            <a:ext cx="357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Exiting from autoscaling mode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1A35C92-34D9-4652-99D7-B4B6FD68FA0D}"/>
              </a:ext>
            </a:extLst>
          </p:cNvPr>
          <p:cNvCxnSpPr>
            <a:cxnSpLocks/>
            <a:stCxn id="43" idx="1"/>
          </p:cNvCxnSpPr>
          <p:nvPr/>
        </p:nvCxnSpPr>
        <p:spPr>
          <a:xfrm flipH="1" flipV="1">
            <a:off x="6614160" y="5172503"/>
            <a:ext cx="1162563" cy="270838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12D9434-199E-441B-AEE8-DC83EC0071FD}"/>
              </a:ext>
            </a:extLst>
          </p:cNvPr>
          <p:cNvSpPr txBox="1"/>
          <p:nvPr/>
        </p:nvSpPr>
        <p:spPr>
          <a:xfrm>
            <a:off x="7654719" y="5972164"/>
            <a:ext cx="4459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Activation of different temperatures plots by changing the Temperature switch</a:t>
            </a: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71CD0F31-DB10-427F-BC02-1918FC04F825}"/>
              </a:ext>
            </a:extLst>
          </p:cNvPr>
          <p:cNvCxnSpPr>
            <a:cxnSpLocks/>
            <a:stCxn id="49" idx="1"/>
          </p:cNvCxnSpPr>
          <p:nvPr/>
        </p:nvCxnSpPr>
        <p:spPr>
          <a:xfrm rot="10800000">
            <a:off x="2184401" y="5553447"/>
            <a:ext cx="5470319" cy="880383"/>
          </a:xfrm>
          <a:prstGeom prst="bentConnector3">
            <a:avLst>
              <a:gd name="adj1" fmla="val 99961"/>
            </a:avLst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C2EBB2A7-5E53-45FD-8C7C-5B65FE4206ED}"/>
              </a:ext>
            </a:extLst>
          </p:cNvPr>
          <p:cNvSpPr/>
          <p:nvPr/>
        </p:nvSpPr>
        <p:spPr>
          <a:xfrm>
            <a:off x="4429760" y="4521200"/>
            <a:ext cx="792480" cy="331700"/>
          </a:xfrm>
          <a:prstGeom prst="ellipse">
            <a:avLst/>
          </a:prstGeom>
          <a:noFill/>
          <a:ln w="28575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280D4B94-C0BE-4F3B-B4A2-0C8BC44F4669}"/>
              </a:ext>
            </a:extLst>
          </p:cNvPr>
          <p:cNvCxnSpPr>
            <a:cxnSpLocks/>
            <a:stCxn id="58" idx="6"/>
            <a:endCxn id="64" idx="1"/>
          </p:cNvCxnSpPr>
          <p:nvPr/>
        </p:nvCxnSpPr>
        <p:spPr>
          <a:xfrm flipV="1">
            <a:off x="5222240" y="1723494"/>
            <a:ext cx="2432479" cy="2963556"/>
          </a:xfrm>
          <a:prstGeom prst="bentConnector3">
            <a:avLst>
              <a:gd name="adj1" fmla="val 41229"/>
            </a:avLst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6B1F1CC-DD81-4B8E-9287-1F02BF41B4BD}"/>
              </a:ext>
            </a:extLst>
          </p:cNvPr>
          <p:cNvSpPr txBox="1"/>
          <p:nvPr/>
        </p:nvSpPr>
        <p:spPr>
          <a:xfrm>
            <a:off x="7654719" y="1538828"/>
            <a:ext cx="4175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</a:t>
            </a:r>
            <a:r>
              <a:rPr lang="en-US" dirty="0" err="1"/>
              <a:t>Vout</a:t>
            </a:r>
            <a:r>
              <a:rPr lang="en-US" dirty="0"/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1316452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5923F7-A7AC-44DF-A0DA-11EAC375AD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004" t="19547" b="2654"/>
          <a:stretch/>
        </p:blipFill>
        <p:spPr>
          <a:xfrm>
            <a:off x="1485906" y="2729399"/>
            <a:ext cx="5268569" cy="37909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CA1100-7456-415A-A481-83AA9A39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Operating Procedure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BEC7-61CD-4390-A9AE-14B6BD230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b="1" dirty="0"/>
              <a:t>Operation With GMOS Software</a:t>
            </a:r>
          </a:p>
          <a:p>
            <a:pPr marL="914400" lvl="1" indent="-457200">
              <a:buFont typeface="+mj-lt"/>
              <a:buAutoNum type="alphaUcPeriod" startAt="5"/>
            </a:pPr>
            <a:r>
              <a:rPr lang="en-US" dirty="0"/>
              <a:t>Graph control</a:t>
            </a:r>
          </a:p>
          <a:p>
            <a:pPr marL="914400" lvl="1" indent="-457200">
              <a:buFont typeface="+mj-lt"/>
              <a:buAutoNum type="alphaUcPeriod" startAt="5"/>
            </a:pPr>
            <a:endParaRPr lang="LID4096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CBB494-271A-4861-A575-4D78CD4FF7F2}"/>
              </a:ext>
            </a:extLst>
          </p:cNvPr>
          <p:cNvSpPr txBox="1"/>
          <p:nvPr/>
        </p:nvSpPr>
        <p:spPr>
          <a:xfrm>
            <a:off x="7174209" y="2729399"/>
            <a:ext cx="429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Blind &amp; Active drain voltage graphs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1A35C92-34D9-4652-99D7-B4B6FD68FA0D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6167121" y="2914065"/>
            <a:ext cx="1007088" cy="60129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12D9434-199E-441B-AEE8-DC83EC0071FD}"/>
              </a:ext>
            </a:extLst>
          </p:cNvPr>
          <p:cNvSpPr txBox="1"/>
          <p:nvPr/>
        </p:nvSpPr>
        <p:spPr>
          <a:xfrm>
            <a:off x="6952290" y="4995625"/>
            <a:ext cx="50365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IMPORTANT NOTE:</a:t>
            </a:r>
          </a:p>
          <a:p>
            <a:r>
              <a:rPr lang="en-US" dirty="0"/>
              <a:t>When switching between the temperatures during the tests, the previous temperature graph is freezing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41E00CFC-8DF7-4A40-A5FA-4AEE2241895D}"/>
              </a:ext>
            </a:extLst>
          </p:cNvPr>
          <p:cNvSpPr/>
          <p:nvPr/>
        </p:nvSpPr>
        <p:spPr>
          <a:xfrm rot="10800000">
            <a:off x="6253852" y="3650297"/>
            <a:ext cx="248548" cy="557602"/>
          </a:xfrm>
          <a:prstGeom prst="leftBrac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E51996D-D554-486E-9B53-406E0797DAB9}"/>
              </a:ext>
            </a:extLst>
          </p:cNvPr>
          <p:cNvCxnSpPr>
            <a:cxnSpLocks/>
            <a:stCxn id="26" idx="1"/>
            <a:endCxn id="22" idx="1"/>
          </p:cNvCxnSpPr>
          <p:nvPr/>
        </p:nvCxnSpPr>
        <p:spPr>
          <a:xfrm flipH="1">
            <a:off x="6502400" y="3563458"/>
            <a:ext cx="707657" cy="36564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D3BB367-AEAC-4760-BD42-7F8F8556FA88}"/>
              </a:ext>
            </a:extLst>
          </p:cNvPr>
          <p:cNvSpPr txBox="1"/>
          <p:nvPr/>
        </p:nvSpPr>
        <p:spPr>
          <a:xfrm>
            <a:off x="7210057" y="3378792"/>
            <a:ext cx="357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Heater voltage graphs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64B903-BB80-458F-9763-EC6AF5E05531}"/>
              </a:ext>
            </a:extLst>
          </p:cNvPr>
          <p:cNvSpPr txBox="1"/>
          <p:nvPr/>
        </p:nvSpPr>
        <p:spPr>
          <a:xfrm>
            <a:off x="7210057" y="3825069"/>
            <a:ext cx="357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VOUT graph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972DCD-0B88-41C4-B5F9-C06DDDA8A2BA}"/>
              </a:ext>
            </a:extLst>
          </p:cNvPr>
          <p:cNvSpPr txBox="1"/>
          <p:nvPr/>
        </p:nvSpPr>
        <p:spPr>
          <a:xfrm>
            <a:off x="7210057" y="4198401"/>
            <a:ext cx="357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CM SENSE graph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009D805-4B18-4928-9F57-F3155CD8EED2}"/>
              </a:ext>
            </a:extLst>
          </p:cNvPr>
          <p:cNvCxnSpPr>
            <a:cxnSpLocks/>
            <a:stCxn id="30" idx="1"/>
          </p:cNvCxnSpPr>
          <p:nvPr/>
        </p:nvCxnSpPr>
        <p:spPr>
          <a:xfrm flipH="1">
            <a:off x="6283192" y="4009735"/>
            <a:ext cx="926865" cy="28814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A76D978-6293-4618-8C5A-EFB6F71CE58E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6578073" y="4383067"/>
            <a:ext cx="631984" cy="7322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712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A1100-7456-415A-A481-83AA9A39B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Operating Procedure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DBEC7-61CD-4390-A9AE-14B6BD230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61255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/>
              <a:t>Performing the measurement with gas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Close hermetically the gas chamber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Power ON the EVB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Start the software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Select the Pixel and the Gain (default setting are Pixel 4, Gain x1, Heater frequency of 1 Hz with Duty cycle of 50%)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Set the Active &amp; Drain voltages using the software algorithm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Start VOUT graph to obtain stable baseline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b="1" dirty="0"/>
              <a:t>IMPORTANT:</a:t>
            </a:r>
            <a:r>
              <a:rPr lang="en-US" dirty="0"/>
              <a:t> Prior gas introduction start the operation of the fan inside the chamber (fan settings: V = 12V, I = 100 mA)</a:t>
            </a:r>
          </a:p>
          <a:p>
            <a:pPr marL="457200" lvl="1" indent="0">
              <a:buNone/>
            </a:pPr>
            <a:r>
              <a:rPr lang="en-US" dirty="0"/>
              <a:t>	Make sure that the GMOS sensor is with PTFE filter.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Introduce the gas inside the chamber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Stop the fan operation after a few seconds (if the gas introduced in a liquid form, wait until the drop is fully evaporated)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Perform measurement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dirty="0"/>
              <a:t>Open the chamber to ventilate the gas chamber</a:t>
            </a:r>
          </a:p>
        </p:txBody>
      </p:sp>
    </p:spTree>
    <p:extLst>
      <p:ext uri="{BB962C8B-B14F-4D97-AF65-F5344CB8AC3E}">
        <p14:creationId xmlns:p14="http://schemas.microsoft.com/office/powerpoint/2010/main" val="408133463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Office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569</Words>
  <Application>Microsoft Office PowerPoint</Application>
  <PresentationFormat>Widescreen</PresentationFormat>
  <Paragraphs>120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Century Gothic</vt:lpstr>
      <vt:lpstr>ShapesVTI</vt:lpstr>
      <vt:lpstr>GMOS RUN4</vt:lpstr>
      <vt:lpstr>Scheme – Block diagram </vt:lpstr>
      <vt:lpstr>Evaluation Board</vt:lpstr>
      <vt:lpstr>Standard Operating Procedure</vt:lpstr>
      <vt:lpstr>Standard Operating Procedure</vt:lpstr>
      <vt:lpstr>Standard Operating Procedure</vt:lpstr>
      <vt:lpstr>Standard Operating Procedure</vt:lpstr>
      <vt:lpstr>Standard Operating Procedure</vt:lpstr>
      <vt:lpstr>Standard Operating Procedure</vt:lpstr>
      <vt:lpstr>Standard Operating Procedure</vt:lpstr>
      <vt:lpstr>Standard Operating Procedure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GMOS RUN4</dc:title>
  <dc:creator>Dmitry Shlenkevitch</dc:creator>
  <cp:lastModifiedBy>Dmitry Shlenkevitch</cp:lastModifiedBy>
  <cp:revision>17</cp:revision>
  <dcterms:created xsi:type="dcterms:W3CDTF">2021-05-11T07:24:33Z</dcterms:created>
  <dcterms:modified xsi:type="dcterms:W3CDTF">2021-05-31T10:45:09Z</dcterms:modified>
</cp:coreProperties>
</file>